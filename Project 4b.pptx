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6" r:id="rId17"/>
    <p:sldId id="270" r:id="rId18"/>
    <p:sldId id="271" r:id="rId19"/>
    <p:sldId id="272" r:id="rId20"/>
    <p:sldId id="274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5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436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5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25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4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18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4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4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88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429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064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3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82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9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362F64-B922-4B13-9721-EA4E666902C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776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skills.com/Excel/Resources/Pivot-table-tutorial" TargetMode="External"/><Relationship Id="rId2" Type="http://schemas.openxmlformats.org/officeDocument/2006/relationships/hyperlink" Target="https://www.geeksforgeeks.org/data-analysis/exploratory-data-analysis-in-python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5DCBF3-5FCA-FE32-6767-8463730CB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576" y="306557"/>
            <a:ext cx="10804848" cy="5746102"/>
          </a:xfrm>
        </p:spPr>
        <p:txBody>
          <a:bodyPr anchor="t"/>
          <a:lstStyle/>
          <a:p>
            <a:pPr algn="ctr"/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Project-4b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Of Large-Scale Industry Dataset 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- Rakshit A Solanki</a:t>
            </a:r>
          </a:p>
        </p:txBody>
      </p:sp>
    </p:spTree>
    <p:extLst>
      <p:ext uri="{BB962C8B-B14F-4D97-AF65-F5344CB8AC3E}">
        <p14:creationId xmlns:p14="http://schemas.microsoft.com/office/powerpoint/2010/main" val="228118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881591-D4D1-9561-758C-7F331026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A3FDEA-0B7B-6A9A-3A33-39A188C5C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43904"/>
            <a:ext cx="11100619" cy="5864936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2000"/>
              </a:spcBef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an industry dataset to understand the factors influencing company revenue and business performance.</a:t>
            </a:r>
          </a:p>
          <a:p>
            <a:pPr algn="just">
              <a:spcBef>
                <a:spcPts val="2000"/>
              </a:spcBef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information related to industries, geographical regions, customer base, workforce &amp; financial indicators.</a:t>
            </a:r>
          </a:p>
          <a:p>
            <a:pPr algn="just">
              <a:spcBef>
                <a:spcPts val="2000"/>
              </a:spcBef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techniques were applied to generate meaningful variable that can improve data understanding and predictive performance.</a:t>
            </a:r>
          </a:p>
          <a:p>
            <a:pPr algn="just">
              <a:spcBef>
                <a:spcPts val="2000"/>
              </a:spcBef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was performed to identify trends, patterns &amp; relationship among different business variables.</a:t>
            </a:r>
          </a:p>
          <a:p>
            <a:pPr algn="just">
              <a:spcBef>
                <a:spcPts val="2000"/>
              </a:spcBef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model was developed to predict annual revenue based on various organizational and financial factors.</a:t>
            </a:r>
          </a:p>
          <a:p>
            <a:pPr algn="just">
              <a:spcBef>
                <a:spcPts val="2000"/>
              </a:spcBef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data analytics can support business decision-making through actionable insights.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DE07-3955-AFA8-9FFD-9D886505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22A330B-A7EE-24A7-C7C7-900DE59D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3BC078-8F68-E293-90BD-856679BE9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943904"/>
            <a:ext cx="11090786" cy="586493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Data Preparation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raw business data into meaningful and analysis ready features. 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variables that improve data understanding and predictive performance.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structured dataset suitable for exploratory data analysis and machine learning.</a:t>
            </a:r>
          </a:p>
          <a:p>
            <a:pPr marL="457200" lvl="1" indent="0" algn="just">
              <a:spcAft>
                <a:spcPts val="500"/>
              </a:spcAft>
              <a:buNone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Prediction &amp; Business Insights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estimate annual company revenue.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patterns and relationship that contribute to revenue growth.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 to support business decision making.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6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5FC3-C489-9A02-4B20-ADA4CB60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4EDF37-0925-F2E2-9890-37326C8A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801C37-6857-9CF7-C8C3-A24AF20BE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14408"/>
            <a:ext cx="11080955" cy="5771527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company level information collected from various industries and geographical regions.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provides sufficient information for performing exploratory analysis and predictive modeling.	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attributes are available to study business performance.</a:t>
            </a:r>
          </a:p>
          <a:p>
            <a:pPr marL="457200" lvl="1" indent="0" algn="just">
              <a:spcBef>
                <a:spcPts val="500"/>
              </a:spcBef>
              <a:buNone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Variables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type			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&amp; Region 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customers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rating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6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B0215-1696-110F-49CF-86799157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50331D-9CE4-31A9-F408-BE0E41835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DF5D56-BB40-984F-50FB-0E5C87954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43904"/>
            <a:ext cx="11080955" cy="6066496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Creation Process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variables were generated from existing columns to improve analytical insights.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based features were extracted to capture temporal business information.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helped transform raw data into more meaningful variables.</a:t>
            </a:r>
          </a:p>
          <a:p>
            <a:pPr marL="457200" lvl="1" indent="0" algn="just">
              <a:buNone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Feature Engineering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quality and interpretability.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machine learning model.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uncover hidden relationship within the dataset.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additional business insights for analysis.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96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A8E45-6A21-DE22-EA70-6D9B43E6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9DD054-DCCD-9495-9EE3-CC5FFD5C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AA8E24-1214-6B04-8C92-0C954ECD6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1012728"/>
            <a:ext cx="11090787" cy="5864936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thoroughly inspected to identify data quality issues before analysis.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&amp; duplicate values found in the dataset.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were verified and corrected to ensure consistency across variables.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columns were converted into proper datetime format for feature extraction.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Irrelevant columns were reviewed and excluded where required.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data cleaning process improved data reliability, accuracy &amp; usability.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dataset was carefully prepared to ensure smooth execution of exploratory data analysis &amp; machine learning algorithms.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8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11E7-E646-C862-50A5-A3807DDD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987CCB-2F99-300F-C78A-51059F01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109FD1-DED2-BE0E-7B10-796F774BE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1012728"/>
            <a:ext cx="11080954" cy="5914096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were identified using the Interquartile Range (IQR) method to detect extreme values present in the dataset.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values were observed in revenue &amp; other numerical variables.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observations may represent highly successful organizations or unusual business cases.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can significantly influence statistical analysis and model performance.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outliers helps improve the quality or business insights and predictions.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outliers provided additional insights into companies with usually high revenue and operational scale.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06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AB91-AB61-8135-2333-9EEA4D3D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BAACAC-6957-1689-77FE-2B8AFB52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934400-FD6A-8C80-67EE-FCD67CDF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855416"/>
            <a:ext cx="11080955" cy="6066496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skewness values of all numerical variables are very close to zero.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the distribution are approximately symmetrical with minimal skewness.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dataset does not contain heavily skewed numerical features.</a:t>
            </a:r>
          </a:p>
          <a:p>
            <a:pPr marL="457200" lvl="1" indent="0" algn="just">
              <a:buNone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7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numerical variables have negative kurtosis value approximately around 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-1.2.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platykurtic distribution with lighter tails compared to a normal distribution.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suggested a balanced distribution of numerical variables with limited influence from extreme values.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209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0391" y="3778086"/>
            <a:ext cx="11011506" cy="272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companies belongs to the middle customer count ranges.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large customer bases are observed in a limited number of companies.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suggests a mix of developing and mature organizations.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acquisition levels very considerably among companies.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reflacts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difference in market reach and business expansion.</a:t>
            </a:r>
          </a:p>
          <a:p>
            <a:pPr algn="just">
              <a:spcAft>
                <a:spcPts val="500"/>
              </a:spcAft>
              <a:buClr>
                <a:schemeClr val="accent1"/>
              </a:buClr>
              <a:buSzPct val="80000"/>
              <a:tabLst>
                <a:tab pos="4572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31BD2B-D47D-5045-7BF9-B3A76B2C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BE6FD-BA1E-FE4B-4540-7BF1F2B6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06" y="988856"/>
            <a:ext cx="10733313" cy="25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0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2193-9597-0FBE-4E1A-B98B32D7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94458B6-09C2-03CB-3AAB-7F5F3312893C}"/>
              </a:ext>
            </a:extLst>
          </p:cNvPr>
          <p:cNvSpPr/>
          <p:nvPr/>
        </p:nvSpPr>
        <p:spPr>
          <a:xfrm>
            <a:off x="600391" y="3778086"/>
            <a:ext cx="11011506" cy="309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organizations operate within moderate profit margin ranges.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low and extremely high profit margins are less common.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suggests stable profitability among the majority of businesses.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limited number of companies achieve exceptionally high margins.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varies across organizations but remains concentrated within the middle ranges.</a:t>
            </a:r>
          </a:p>
          <a:p>
            <a:pPr algn="just">
              <a:spcAft>
                <a:spcPts val="500"/>
              </a:spcAft>
              <a:buClr>
                <a:schemeClr val="accent1"/>
              </a:buClr>
              <a:buSzPct val="80000"/>
              <a:tabLst>
                <a:tab pos="4572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AB155F-C6BA-006D-FDE3-FE5BC041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8C4C3-EC4F-72A0-179D-8D9595B0B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38" y="988856"/>
            <a:ext cx="10733313" cy="25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73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9EF7B-6E37-A4FB-214E-A7B4DACC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16D979-48E5-3881-514F-6599F2DB7956}"/>
              </a:ext>
            </a:extLst>
          </p:cNvPr>
          <p:cNvSpPr/>
          <p:nvPr/>
        </p:nvSpPr>
        <p:spPr>
          <a:xfrm>
            <a:off x="570271" y="3778086"/>
            <a:ext cx="11031794" cy="2257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compares the average revenue generated by different industries.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levels vary across industries despite equal representation in the dataset.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industries demonstrate stronger revenue generating potential than others.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highlights difference in business opportunities among sectors.</a:t>
            </a:r>
          </a:p>
          <a:p>
            <a:pPr algn="just">
              <a:spcAft>
                <a:spcPts val="500"/>
              </a:spcAft>
              <a:buClr>
                <a:schemeClr val="accent1"/>
              </a:buClr>
              <a:buSzPct val="80000"/>
              <a:tabLst>
                <a:tab pos="4572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3617B1-F035-59C4-6709-7AE28F9F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F43A2-274D-9595-B8A0-BE1BECCA0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7" y="988858"/>
            <a:ext cx="10733314" cy="25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30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5559-3054-0868-490B-51B67960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AFBF22-0323-A957-3987-0EA5BA18F1F4}"/>
              </a:ext>
            </a:extLst>
          </p:cNvPr>
          <p:cNvSpPr/>
          <p:nvPr/>
        </p:nvSpPr>
        <p:spPr>
          <a:xfrm>
            <a:off x="600390" y="3768254"/>
            <a:ext cx="10982009" cy="2641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revenue differs across geographical regions.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regions outperform others in terms of revenue generation.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market conditions may contribute to differences in business performance.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highlights the importance of geographical factors in revenue growth.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5DFB55-49B8-BC22-893F-6FE7B3CB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063CA-E7EE-A14F-2C38-FACEE111A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01" y="988858"/>
            <a:ext cx="10733314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2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F2A7-2B43-E0C1-8C7C-27552DFC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1F0BA9-4CA8-3B66-A5CF-92C0DF560EC5}"/>
              </a:ext>
            </a:extLst>
          </p:cNvPr>
          <p:cNvSpPr/>
          <p:nvPr/>
        </p:nvSpPr>
        <p:spPr>
          <a:xfrm>
            <a:off x="560439" y="3778079"/>
            <a:ext cx="11139948" cy="2272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varies noticeably among industries.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industries achieve stronger profit margins the others.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specific operational models influence profitability levels.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sectors generate higher profits even without the highest revenue.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highlights difference in financial efficiency across industries.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06CD180-260F-1AB1-16E5-DA9960A0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23D2F6-C811-40B9-2D5E-A9E6778A1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9" y="950415"/>
            <a:ext cx="10733315" cy="261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59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61D1-CC34-F668-0C97-94FFAAAB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1DCA7-74EB-984A-658D-9FF0EA793A1C}"/>
              </a:ext>
            </a:extLst>
          </p:cNvPr>
          <p:cNvSpPr/>
          <p:nvPr/>
        </p:nvSpPr>
        <p:spPr>
          <a:xfrm>
            <a:off x="5576023" y="1165557"/>
            <a:ext cx="5969866" cy="4580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visualizes relationship among numerical business variables.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 indicate variables that tend to increase together.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shows meaningful relationships with selected business indicators.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variables exhibit weak correlation, suggesting limited influence on one another.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helps identify important features for predictive modeling.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A440BED-9374-1DDE-38F0-D9C6C447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9F0D0F-D8E5-D812-0175-3CF61894B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36" y="1203869"/>
            <a:ext cx="5027104" cy="469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1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0BC8A-44F1-EA0E-0A7F-88E3627A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BA64BE-0370-BC3C-10BD-5CBAA47C213E}"/>
              </a:ext>
            </a:extLst>
          </p:cNvPr>
          <p:cNvSpPr/>
          <p:nvPr/>
        </p:nvSpPr>
        <p:spPr>
          <a:xfrm>
            <a:off x="600391" y="3709262"/>
            <a:ext cx="11001674" cy="2657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performance varies when both industry and region are analyzed together.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industries perform better in specific geographical regions.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interaction between industry and region provides deeper business insights.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trends cannot be explained by a single variable alone.</a:t>
            </a:r>
          </a:p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highlights the importance of considering multiple factors when evaluating business performance.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AC64274-1DB7-1FB4-5F2A-26C4F045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51CB7-A789-E133-0263-C9D37BFE6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07" y="988857"/>
            <a:ext cx="10733314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14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CD831-B7AE-DBD5-D452-0E91975B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2756E6-7605-452A-2E21-005B60B4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Results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03CC1E-F1FA-13C3-743A-AC845F877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43904"/>
            <a:ext cx="11080955" cy="6066496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was selected as the predictive model for estimating annual company revenue.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establishes relationships between independent variables and the target variable.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simple and interpretable approach for revenue forecasting.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standard regression metrics.</a:t>
            </a:r>
          </a:p>
          <a:p>
            <a:pPr marL="457200" lvl="1" indent="0" algn="just">
              <a:buNone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Metrics 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(MAE) = </a:t>
            </a:r>
            <a:r>
              <a:rPr lang="en-US" sz="2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248.3300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 = </a:t>
            </a:r>
            <a:r>
              <a:rPr lang="en-US" sz="2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82469.2700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 (RMSE) = </a:t>
            </a:r>
            <a:r>
              <a:rPr lang="en-US" sz="2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287.1700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score = </a:t>
            </a:r>
            <a:r>
              <a:rPr lang="en-US" sz="2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-0.0001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683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2857-B347-7375-E808-6649597D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73CF32-C6F5-EE1B-66BF-50391FBB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448084-8DBC-0395-0555-A47CDE69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42224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distribution shows noticeable variation across industries and regions.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improved the quality and usefulness of the dataset.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played a significant role in enhancing the analytical value of the dataset and improve model readiness.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characteristics play an important role in determining business performance.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related &amp; financial variables demonstrate meaningful relationship with revenue.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helped identify influential variables for prediction.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driven analysis reveled valuable business trends and patterns.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33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74EF-2D17-32DC-1248-B78B911F8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0C8483-980A-1410-CBFA-CDB2C395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1ED2E5-9BDF-7034-06D4-9BDE85599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22560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should focus on key business indicators that show strong relationship with revenue.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specific strategies can improve financial performance and market competitiveness.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 can help identify attractive markets for future expansion.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acquisition and retention remain critical factors for business growth.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driven decision making can improve operational efficiency and revenue generation.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can assist business in forecasting future performance and planning effectively.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391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D962-6015-78AE-2929-1E741B67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0955F1-8C0A-1B90-A069-976C25BE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288991-242D-8F1D-BE6C-25B23777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22560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analyzed industry data using exploratory data analysis and machine learning techniques.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enhanced the overall quality and usefulness of the dataset.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important business patterns and relationships were identified through statistical analysis.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the importance of data analytics in supporting business decisions.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 highlights the potential of machine learning and data analytics in solving real world business problems.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analysis provides meaningful insights that can contribute to organizational growth and strategic planning.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57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47915"/>
            <a:ext cx="10888392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Links Used For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293221"/>
            <a:ext cx="10985450" cy="419548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https://www.geeksforgeeks.org/data-analysis/exploratory-data-analysis-in-python/</a:t>
            </a:r>
            <a:endParaRPr lang="en-US" sz="2500" u="sng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https://www.ibm.com/think/topics/data-cleaning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https://plotly.com/python/bar-charts/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https://plotly.com/python/box-plots/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https://www.geeksforgeeks.org/machine-learning/machine-learning/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https://www.geeksforgeeks.org/machine-learning/ml-linear-regression/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https://www.youtube.com/watch?v=xi0vhXFPegw</a:t>
            </a: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428320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40080"/>
            <a:ext cx="10823078" cy="56083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5335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1121</TotalTime>
  <Words>1368</Words>
  <Application>Microsoft Office PowerPoint</Application>
  <PresentationFormat>Widescreen</PresentationFormat>
  <Paragraphs>209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Century Gothic</vt:lpstr>
      <vt:lpstr>Times New Roman</vt:lpstr>
      <vt:lpstr>Wingdings</vt:lpstr>
      <vt:lpstr>Wingdings 3</vt:lpstr>
      <vt:lpstr>Ion</vt:lpstr>
      <vt:lpstr>Project-4b  Exploratory Data Analysis Of Large-Scale Industry Dataset   NextHikes Solutions By - Rakshit A Solanki</vt:lpstr>
      <vt:lpstr>Project Overview</vt:lpstr>
      <vt:lpstr>Project Objective</vt:lpstr>
      <vt:lpstr>Dataset Information</vt:lpstr>
      <vt:lpstr>Feature Engineering</vt:lpstr>
      <vt:lpstr>Data Cleaning Process</vt:lpstr>
      <vt:lpstr>Outlier Detection</vt:lpstr>
      <vt:lpstr>Descriptive Statistics</vt:lpstr>
      <vt:lpstr>Univariate Analysis</vt:lpstr>
      <vt:lpstr>Univariate Analysis</vt:lpstr>
      <vt:lpstr>Bivariate Analysis</vt:lpstr>
      <vt:lpstr>Bivariate Analysis</vt:lpstr>
      <vt:lpstr>Bivariate Analysis</vt:lpstr>
      <vt:lpstr>Correlation Heatmap</vt:lpstr>
      <vt:lpstr>Multivariate Analysis</vt:lpstr>
      <vt:lpstr>Machine Learning Results</vt:lpstr>
      <vt:lpstr>Key Observations</vt:lpstr>
      <vt:lpstr>Business Insights</vt:lpstr>
      <vt:lpstr>Conclusion</vt:lpstr>
      <vt:lpstr>Reference Links Used For Learn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Chandni Solanki</dc:creator>
  <cp:lastModifiedBy>Chandni Solanki</cp:lastModifiedBy>
  <cp:revision>19</cp:revision>
  <dcterms:created xsi:type="dcterms:W3CDTF">2026-04-24T15:01:37Z</dcterms:created>
  <dcterms:modified xsi:type="dcterms:W3CDTF">2026-06-11T00:29:33Z</dcterms:modified>
</cp:coreProperties>
</file>